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3"/>
    <p:restoredTop sz="94657"/>
  </p:normalViewPr>
  <p:slideViewPr>
    <p:cSldViewPr snapToGrid="0">
      <p:cViewPr varScale="1">
        <p:scale>
          <a:sx n="125" d="100"/>
          <a:sy n="125" d="100"/>
        </p:scale>
        <p:origin x="192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55BA1-96FF-270F-59CD-49DDECAA0D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D51182-8AE5-A24F-3A86-BEFA4BDA10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B27C0-5757-0703-9E99-ED08E7AAE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32190-E03A-744E-9FBF-8ED2EFAD1E3C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80273-4607-109F-B53E-04731D41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C76E7-0A57-7DFC-FD04-163CA34ED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282C8-DDD4-5E4A-8A6E-DF66CF785A2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16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7BD2E-503C-963B-1F49-70EDC8AD2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36146-C845-5BDE-7ACF-CC8A468FA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50448-934E-7736-84B2-B21C837B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32190-E03A-744E-9FBF-8ED2EFAD1E3C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EEDC0-DE7B-D4A3-B9B2-165E82FF6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207ED-6943-E573-85D0-C7E265018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282C8-DDD4-5E4A-8A6E-DF66CF785A2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3707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334E8-63C4-F093-F1D0-F61C737D7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33F9C4-25AF-6E7D-8DCE-3387573FF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E3732-04CC-0E18-E5CD-2B8578AEE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32190-E03A-744E-9FBF-8ED2EFAD1E3C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FDB63-5C63-9F7F-7656-56770B7B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82897-C52A-447C-7DDE-DD39D7FFB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282C8-DDD4-5E4A-8A6E-DF66CF785A2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2858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3EDFC-78AC-5544-5A24-37A3E3455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1B7A5-7064-B93F-AE4D-E6C37C5374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D1022A-90FA-EDC4-1603-C0E3CF90AB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FD779-EACE-600E-A3E1-65F670DC2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32190-E03A-744E-9FBF-8ED2EFAD1E3C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F4218C-C9C9-064A-52DA-5C2CB5465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BF9DAC-7D88-D1A3-2A59-702413FD2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282C8-DDD4-5E4A-8A6E-DF66CF785A2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1446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D9140-4AC4-A568-F057-4DF46A282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5F6C92-236A-4678-D37C-FA8F92B5A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7BC4F6-064A-3C38-FA39-39338B1C69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8B5071-3FC0-B95B-14CD-56E4F87662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74AA04-72BC-C7CE-15B1-D7FF5A01CF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FBFF3F-3BD5-B310-854F-DBE727F98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32190-E03A-744E-9FBF-8ED2EFAD1E3C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41492A-2551-0F43-536B-B1FF78D29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39CEF5-E68A-FF0C-BE8D-B07D350BB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282C8-DDD4-5E4A-8A6E-DF66CF785A2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8867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7BFA4-B783-208D-BCD4-FFE3A61FF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69A74D-E996-1A96-8A07-894C574FE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32190-E03A-744E-9FBF-8ED2EFAD1E3C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4F28CD-1ECE-A3B7-6DED-4D09F91A7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C82F80-0437-EB7E-D0CC-87207785B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282C8-DDD4-5E4A-8A6E-DF66CF785A2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3195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50A0A9-531A-397D-9EAC-BB93851B2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32190-E03A-744E-9FBF-8ED2EFAD1E3C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A020DE-C417-5043-BDD7-809FCAD97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D16AE3-E549-4641-CE7A-5505BCA4E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282C8-DDD4-5E4A-8A6E-DF66CF785A2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0045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629F1-6619-976A-528E-3847A7727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F0328-16C9-A120-8EF7-D403EBE90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51AE04-2AA5-759A-F1D2-C856DC73D2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9628E3-274E-297C-BE23-082214C33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32190-E03A-744E-9FBF-8ED2EFAD1E3C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91504D-58C4-F9B6-4094-72B57215C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620264-C60C-013B-C9D6-53EB037CA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282C8-DDD4-5E4A-8A6E-DF66CF785A2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9238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B44B8-2105-A6CF-BD4A-9AA93E89E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52207E-F33C-D355-4A10-21065EB03F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B58FDB-A1AD-1E6D-FC48-BFC571BC9F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5FC5FB-AB15-8C3C-0114-BD5837550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32190-E03A-744E-9FBF-8ED2EFAD1E3C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D9F450-8DD0-8AB9-065D-D89B30C1A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CF9213-151D-3D8D-510A-8166F8D1B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282C8-DDD4-5E4A-8A6E-DF66CF785A2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5024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21216-1C2F-CCF2-0701-3B8CD85F5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AF3695-2665-CBDB-597F-2A480C67D6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CD901-9010-A333-B5E5-BBC7ED1B9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32190-E03A-744E-9FBF-8ED2EFAD1E3C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2D523-68D9-CAE2-11AE-6A082E8D7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1E1F9-226A-F24E-463A-E3B66D051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282C8-DDD4-5E4A-8A6E-DF66CF785A2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8432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B7E0A3-9C3A-C820-504A-B0DF89F3BC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1D1B57-8DE5-04D6-08CA-D9C2A7F517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A661B-CFE7-33A7-24ED-7B4EED761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32190-E03A-744E-9FBF-8ED2EFAD1E3C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05D853-138F-5327-A9F2-9F10EEDF0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D639E-DE12-70D0-0827-21F994F3A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282C8-DDD4-5E4A-8A6E-DF66CF785A2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0156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14745E-71E8-93B1-B959-AC5E7E118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ECC782-7E53-83BB-4E43-063E921941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856BC-A52A-3D2D-8A07-DCA1E00DD1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F32190-E03A-744E-9FBF-8ED2EFAD1E3C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CB4B8-9CEE-A1F1-7DEA-110325B75F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EDB88-CF7F-8656-3B44-A577CC695A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C282C8-DDD4-5E4A-8A6E-DF66CF785A2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625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C61CCCD-411A-948D-44F8-CB15014E4B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1527"/>
            <a:ext cx="12700000" cy="619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5910D03E-9D8C-CC6F-63CD-EBF71F2216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7761" y="1754913"/>
            <a:ext cx="534793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FR" altLang="en-FR" sz="2400" b="0" i="1" u="none" strike="noStrike" cap="none" normalizeH="0" baseline="0" dirty="0">
                <a:ln>
                  <a:noFill/>
                </a:ln>
                <a:solidFill>
                  <a:srgbClr val="EF9F7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Neurone artificiel = </a:t>
            </a:r>
            <a:r>
              <a:rPr lang="en-FR" altLang="en-F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FR" altLang="en-FR" sz="2400" b="0" i="1" u="none" strike="noStrike" cap="none" normalizeH="0" baseline="0" dirty="0">
                <a:ln>
                  <a:noFill/>
                </a:ln>
                <a:solidFill>
                  <a:srgbClr val="EF9F7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Projection linéaire avec poids + biais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FR" altLang="en-FR" sz="2400" b="0" i="1" u="none" strike="noStrike" cap="none" normalizeH="0" baseline="0" dirty="0">
                <a:ln>
                  <a:noFill/>
                </a:ln>
                <a:solidFill>
                  <a:srgbClr val="EF9F7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+ non linéarité “activation”</a:t>
            </a:r>
            <a:r>
              <a:rPr kumimoji="0" lang="en-FR" altLang="en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FR" altLang="en-FR" sz="2400" b="0" i="1" u="none" strike="noStrike" cap="none" normalizeH="0" baseline="0" dirty="0">
                <a:ln>
                  <a:noFill/>
                </a:ln>
                <a:solidFill>
                  <a:srgbClr val="EF9F7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 max(0,x)</a:t>
            </a:r>
            <a:endParaRPr kumimoji="0" lang="en-FR" altLang="en-F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6917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2AADDCC5-26FC-8DA0-5992-D6DE006A7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8450"/>
            <a:ext cx="12192000" cy="626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2963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890BB238-002E-9169-1AFF-7B993A71B0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1220" y="4018672"/>
            <a:ext cx="6096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143C5669-EF04-20F0-F159-993E0F2F08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9330" y="922928"/>
            <a:ext cx="7677150" cy="2788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CD8E896-3EA1-B5A8-90C1-A469A9CF0B2A}"/>
              </a:ext>
            </a:extLst>
          </p:cNvPr>
          <p:cNvSpPr txBox="1"/>
          <p:nvPr/>
        </p:nvSpPr>
        <p:spPr>
          <a:xfrm>
            <a:off x="2255520" y="616149"/>
            <a:ext cx="850011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GB" sz="1800" b="0" i="0" u="none" strike="noStrike" dirty="0">
                <a:solidFill>
                  <a:srgbClr val="EF9F76"/>
                </a:solidFill>
                <a:effectLst/>
                <a:latin typeface="Kalam" panose="02000000000000000000" pitchFamily="2" charset="77"/>
              </a:rPr>
              <a:t>Machine Learning : On </a:t>
            </a:r>
            <a:r>
              <a:rPr lang="en-GB" sz="1800" b="0" i="0" u="none" strike="noStrike" dirty="0" err="1">
                <a:solidFill>
                  <a:srgbClr val="EF9F76"/>
                </a:solidFill>
                <a:effectLst/>
                <a:latin typeface="Kalam" panose="02000000000000000000" pitchFamily="2" charset="77"/>
              </a:rPr>
              <a:t>projette</a:t>
            </a:r>
            <a:r>
              <a:rPr lang="en-GB" sz="1800" b="0" i="0" u="none" strike="noStrike" dirty="0">
                <a:solidFill>
                  <a:srgbClr val="EF9F76"/>
                </a:solidFill>
                <a:effectLst/>
                <a:latin typeface="Kalam" panose="02000000000000000000" pitchFamily="2" charset="77"/>
              </a:rPr>
              <a:t> nous </a:t>
            </a:r>
            <a:r>
              <a:rPr lang="en-GB" sz="1800" b="0" i="0" u="none" strike="noStrike" dirty="0" err="1">
                <a:solidFill>
                  <a:srgbClr val="EF9F76"/>
                </a:solidFill>
                <a:effectLst/>
                <a:latin typeface="Kalam" panose="02000000000000000000" pitchFamily="2" charset="77"/>
              </a:rPr>
              <a:t>même</a:t>
            </a:r>
            <a:r>
              <a:rPr lang="en-GB" sz="1800" b="0" i="0" u="none" strike="noStrike" dirty="0">
                <a:solidFill>
                  <a:srgbClr val="EF9F76"/>
                </a:solidFill>
                <a:effectLst/>
                <a:latin typeface="Kalam" panose="02000000000000000000" pitchFamily="2" charset="77"/>
              </a:rPr>
              <a:t> dans un </a:t>
            </a:r>
            <a:r>
              <a:rPr lang="en-GB" sz="1800" b="0" i="0" u="none" strike="noStrike" dirty="0" err="1">
                <a:solidFill>
                  <a:srgbClr val="EF9F76"/>
                </a:solidFill>
                <a:effectLst/>
                <a:latin typeface="Kalam" panose="02000000000000000000" pitchFamily="2" charset="77"/>
              </a:rPr>
              <a:t>espace</a:t>
            </a:r>
            <a:r>
              <a:rPr lang="en-GB" sz="1800" b="0" i="0" u="none" strike="noStrike" dirty="0">
                <a:solidFill>
                  <a:srgbClr val="EF9F76"/>
                </a:solidFill>
                <a:effectLst/>
                <a:latin typeface="Kalam" panose="02000000000000000000" pitchFamily="2" charset="77"/>
              </a:rPr>
              <a:t> de </a:t>
            </a:r>
            <a:r>
              <a:rPr lang="en-GB" sz="1800" b="0" i="0" u="none" strike="noStrike" dirty="0" err="1">
                <a:solidFill>
                  <a:srgbClr val="EF9F76"/>
                </a:solidFill>
                <a:effectLst/>
                <a:latin typeface="Kalam" panose="02000000000000000000" pitchFamily="2" charset="77"/>
              </a:rPr>
              <a:t>descripteurs</a:t>
            </a:r>
            <a:endParaRPr lang="en-GB" b="0" dirty="0">
              <a:effectLst/>
            </a:endParaRPr>
          </a:p>
          <a:p>
            <a:pPr>
              <a:buNone/>
            </a:pPr>
            <a:endParaRPr lang="en-GB" b="0" dirty="0">
              <a:effectLst/>
            </a:endParaRPr>
          </a:p>
          <a:p>
            <a:pPr>
              <a:buNone/>
            </a:pPr>
            <a:endParaRPr lang="en-GB" dirty="0"/>
          </a:p>
          <a:p>
            <a:pPr>
              <a:buNone/>
            </a:pPr>
            <a:endParaRPr lang="en-GB" b="0" dirty="0">
              <a:effectLst/>
            </a:endParaRPr>
          </a:p>
          <a:p>
            <a:pPr>
              <a:buNone/>
            </a:pPr>
            <a:endParaRPr lang="en-GB" dirty="0"/>
          </a:p>
          <a:p>
            <a:pPr>
              <a:buNone/>
            </a:pPr>
            <a:endParaRPr lang="en-GB" b="0" dirty="0">
              <a:effectLst/>
            </a:endParaRPr>
          </a:p>
          <a:p>
            <a:pPr>
              <a:buNone/>
            </a:pPr>
            <a:endParaRPr lang="en-GB" dirty="0"/>
          </a:p>
          <a:p>
            <a:pPr>
              <a:buNone/>
            </a:pPr>
            <a:br>
              <a:rPr lang="en-GB" b="0" dirty="0">
                <a:effectLst/>
              </a:rPr>
            </a:br>
            <a:endParaRPr lang="en-GB" b="0" dirty="0">
              <a:effectLst/>
            </a:endParaRPr>
          </a:p>
          <a:p>
            <a:pPr rtl="0">
              <a:buNone/>
            </a:pPr>
            <a:endParaRPr lang="en-GB" sz="1800" b="0" i="0" u="none" strike="noStrike" dirty="0">
              <a:solidFill>
                <a:srgbClr val="EF9F76"/>
              </a:solidFill>
              <a:effectLst/>
              <a:latin typeface="Kalam" panose="02000000000000000000" pitchFamily="2" charset="77"/>
            </a:endParaRPr>
          </a:p>
          <a:p>
            <a:pPr rtl="0">
              <a:buNone/>
            </a:pPr>
            <a:endParaRPr lang="en-GB" sz="1800" b="0" i="0" u="none" strike="noStrike" dirty="0">
              <a:solidFill>
                <a:srgbClr val="EF9F76"/>
              </a:solidFill>
              <a:effectLst/>
              <a:latin typeface="Kalam" panose="02000000000000000000" pitchFamily="2" charset="77"/>
            </a:endParaRPr>
          </a:p>
          <a:p>
            <a:pPr rtl="0">
              <a:buNone/>
            </a:pPr>
            <a:r>
              <a:rPr lang="en-GB" sz="1800" b="0" i="0" u="none" strike="noStrike" dirty="0">
                <a:solidFill>
                  <a:srgbClr val="EF9F76"/>
                </a:solidFill>
                <a:effectLst/>
                <a:latin typeface="Kalam" panose="02000000000000000000" pitchFamily="2" charset="77"/>
              </a:rPr>
              <a:t>Deep Learning : On </a:t>
            </a:r>
            <a:r>
              <a:rPr lang="en-GB" sz="1800" b="0" i="0" u="none" strike="noStrike" dirty="0" err="1">
                <a:solidFill>
                  <a:srgbClr val="EF9F76"/>
                </a:solidFill>
                <a:effectLst/>
                <a:latin typeface="Kalam" panose="02000000000000000000" pitchFamily="2" charset="77"/>
              </a:rPr>
              <a:t>apprend</a:t>
            </a:r>
            <a:r>
              <a:rPr lang="en-GB" sz="1800" b="0" i="0" u="none" strike="noStrike" dirty="0">
                <a:solidFill>
                  <a:srgbClr val="EF9F76"/>
                </a:solidFill>
                <a:effectLst/>
                <a:latin typeface="Kalam" panose="02000000000000000000" pitchFamily="2" charset="77"/>
              </a:rPr>
              <a:t> à la </a:t>
            </a:r>
            <a:r>
              <a:rPr lang="en-GB" sz="1800" b="0" i="0" u="none" strike="noStrike" dirty="0" err="1">
                <a:solidFill>
                  <a:srgbClr val="EF9F76"/>
                </a:solidFill>
                <a:effectLst/>
                <a:latin typeface="Kalam" panose="02000000000000000000" pitchFamily="2" charset="77"/>
              </a:rPr>
              <a:t>fois</a:t>
            </a:r>
            <a:r>
              <a:rPr lang="en-GB" sz="1800" b="0" i="0" u="none" strike="noStrike" dirty="0">
                <a:solidFill>
                  <a:srgbClr val="EF9F76"/>
                </a:solidFill>
                <a:effectLst/>
                <a:latin typeface="Kalam" panose="02000000000000000000" pitchFamily="2" charset="77"/>
              </a:rPr>
              <a:t> la projection et la </a:t>
            </a:r>
            <a:r>
              <a:rPr lang="en-GB" sz="1800" b="0" i="0" u="none" strike="noStrike" dirty="0" err="1">
                <a:solidFill>
                  <a:srgbClr val="EF9F76"/>
                </a:solidFill>
                <a:effectLst/>
                <a:latin typeface="Kalam" panose="02000000000000000000" pitchFamily="2" charset="77"/>
              </a:rPr>
              <a:t>décision</a:t>
            </a:r>
            <a:r>
              <a:rPr lang="en-GB" sz="1800" b="0" i="0" u="none" strike="noStrike" dirty="0">
                <a:solidFill>
                  <a:srgbClr val="EF9F76"/>
                </a:solidFill>
                <a:effectLst/>
                <a:latin typeface="Kalam" panose="02000000000000000000" pitchFamily="2" charset="77"/>
              </a:rPr>
              <a:t> dans  le </a:t>
            </a:r>
            <a:r>
              <a:rPr lang="en-GB" sz="1800" b="0" i="0" u="none" strike="noStrike" dirty="0" err="1">
                <a:solidFill>
                  <a:srgbClr val="EF9F76"/>
                </a:solidFill>
                <a:effectLst/>
                <a:latin typeface="Kalam" panose="02000000000000000000" pitchFamily="2" charset="77"/>
              </a:rPr>
              <a:t>même</a:t>
            </a:r>
            <a:r>
              <a:rPr lang="en-GB" sz="1800" b="0" i="0" u="none" strike="noStrike" dirty="0">
                <a:solidFill>
                  <a:srgbClr val="EF9F76"/>
                </a:solidFill>
                <a:effectLst/>
                <a:latin typeface="Kalam" panose="02000000000000000000" pitchFamily="2" charset="77"/>
              </a:rPr>
              <a:t> </a:t>
            </a:r>
            <a:r>
              <a:rPr lang="en-GB" sz="1800" b="0" i="0" u="none" strike="noStrike" dirty="0" err="1">
                <a:solidFill>
                  <a:srgbClr val="EF9F76"/>
                </a:solidFill>
                <a:effectLst/>
                <a:latin typeface="Kalam" panose="02000000000000000000" pitchFamily="2" charset="77"/>
              </a:rPr>
              <a:t>espace</a:t>
            </a:r>
            <a:r>
              <a:rPr lang="en-GB" sz="1800" b="0" i="0" u="none" strike="noStrike" dirty="0">
                <a:solidFill>
                  <a:srgbClr val="EF9F76"/>
                </a:solidFill>
                <a:effectLst/>
                <a:latin typeface="Kalam" panose="02000000000000000000" pitchFamily="2" charset="77"/>
              </a:rPr>
              <a:t> sur-</a:t>
            </a:r>
            <a:r>
              <a:rPr lang="en-GB" sz="1800" b="0" i="0" u="none" strike="noStrike" dirty="0" err="1">
                <a:solidFill>
                  <a:srgbClr val="EF9F76"/>
                </a:solidFill>
                <a:effectLst/>
                <a:latin typeface="Kalam" panose="02000000000000000000" pitchFamily="2" charset="77"/>
              </a:rPr>
              <a:t>paramétrisé</a:t>
            </a:r>
            <a:r>
              <a:rPr lang="en-GB" sz="1800" b="0" i="0" u="none" strike="noStrike" dirty="0">
                <a:solidFill>
                  <a:srgbClr val="EF9F76"/>
                </a:solidFill>
                <a:effectLst/>
                <a:latin typeface="Kalam" panose="02000000000000000000" pitchFamily="2" charset="77"/>
              </a:rPr>
              <a:t>, </a:t>
            </a:r>
            <a:r>
              <a:rPr lang="en-GB" sz="1800" b="0" i="0" u="none" strike="noStrike" dirty="0" err="1">
                <a:solidFill>
                  <a:srgbClr val="EF9F76"/>
                </a:solidFill>
                <a:effectLst/>
                <a:latin typeface="Kalam" panose="02000000000000000000" pitchFamily="2" charset="77"/>
              </a:rPr>
              <a:t>appris</a:t>
            </a:r>
            <a:r>
              <a:rPr lang="en-GB" sz="1800" b="0" i="0" u="none" strike="noStrike" dirty="0">
                <a:solidFill>
                  <a:srgbClr val="EF9F76"/>
                </a:solidFill>
                <a:effectLst/>
                <a:latin typeface="Kalam" panose="02000000000000000000" pitchFamily="2" charset="77"/>
              </a:rPr>
              <a:t>-end-to-end</a:t>
            </a:r>
            <a:br>
              <a:rPr lang="en-GB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34328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6E0FBCAD-BF69-4B01-EEEB-57C669A41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9238"/>
            <a:ext cx="12192000" cy="6357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0575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B47EBDD-8753-979A-C8F1-205BCA9BBD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0350" y="0"/>
            <a:ext cx="9131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0680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D1DD9CE4-7004-E220-AEE6-CBF2DE8A8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417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EAE498B7-D5D1-A9C8-4F9C-3ED48F8B07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875" y="0"/>
            <a:ext cx="40306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6EDA48C1-6C93-F682-D159-1C58049604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0537" y="0"/>
            <a:ext cx="1069464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64A848-9BB6-382F-9FF0-E69CB18D7F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453209" y="-3575981"/>
            <a:ext cx="33724706" cy="12296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653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6D9AFA7-C67F-035A-7EA9-DA98E0291B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6738" y="0"/>
            <a:ext cx="85185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8907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110EBF8B-A9E5-6E8B-62EE-0400A8B4B6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4450" y="0"/>
            <a:ext cx="44831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648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688</TotalTime>
  <Words>56</Words>
  <Application>Microsoft Macintosh PowerPoint</Application>
  <PresentationFormat>Widescreen</PresentationFormat>
  <Paragraphs>14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Kalam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Florient Chouteau</dc:creator>
  <cp:lastModifiedBy>Florient Chouteau</cp:lastModifiedBy>
  <cp:revision>4</cp:revision>
  <dcterms:created xsi:type="dcterms:W3CDTF">2025-11-16T17:50:05Z</dcterms:created>
  <dcterms:modified xsi:type="dcterms:W3CDTF">2025-11-17T20:50:14Z</dcterms:modified>
</cp:coreProperties>
</file>